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Roboto"/>
      <p:regular r:id="rId201314"/>
    </p:embeddedFont>
    <p:embeddedFont>
      <p:font typeface="Roboto Medium"/>
      <p:regular r:id="rId201315"/>
    </p:embeddedFont>
    <p:embeddedFont>
      <p:font typeface="Roboto Bold"/>
      <p:regular r:id="rId201316"/>
    </p:embeddedFont>
    <p:embeddedFont>
      <p:font typeface="Saira"/>
      <p:regular r:id="rId201317"/>
    </p:embeddedFont>
    <p:embeddedFont>
      <p:font typeface="Saira Medium"/>
      <p:regular r:id="rId201318"/>
    </p:embeddedFont>
    <p:embeddedFont>
      <p:font typeface="Saira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>
              <a:alpha val="8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dn.gamma.app/n7upw3m6c8ahkeo/698f2c3a47ee4a289d81cb7f3e757579/original/IPL_Aanalysis_Dashborad.png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01669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IPL ANALYSIS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590279"/>
            <a:ext cx="8151763" cy="536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Cricket Analytics using Power BI</a:t>
            </a:r>
            <a:endParaRPr lang="en-US" sz="9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ANALYTICS | POWER BI | DAX |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1792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53493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full-cycle Power BI analytics project built on Indian Premier League data — from raw data ingestion through interactive dashboard delivery. The project demonstrates end-to-end business intelligence development, combining data engineering, modeling, DAX computation, and visual storytelling into a single, production-quality deliverable.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488406"/>
            <a:ext cx="2634555" cy="15370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1530" y="2626668"/>
            <a:ext cx="23008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Comprehensive IPL Analysis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1530" y="2894930"/>
            <a:ext cx="230088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Ingested and analyzed multi-season IPL data at both match and ball-by-ball granularity to uncover team and player performance patterns across the tournament's history.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648" y="2488406"/>
            <a:ext cx="2634630" cy="15370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50059" y="2626668"/>
            <a:ext cx="23009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Interactive BI Dashboards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450059" y="2894930"/>
            <a:ext cx="2300957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dynamic Power BI dashboards with interactive filters, KPI cards, and drill-through capabilities — enabling stakeholders to explore data-driven cricket insights on demand.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3252" y="2488406"/>
            <a:ext cx="2634555" cy="15370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08663" y="2626668"/>
            <a:ext cx="23008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Modern BI Proficiency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208663" y="2894930"/>
            <a:ext cx="230088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Demonstrates hands-on mastery of Power BI, DAX, Power Query ETL, and relational data modeling — core competencies for data analyst and BI developer roles.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596950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 clearly scoped analytical objectives drive the dashboard design, ensuring every visual element maps directly to a measurable performance question.</a:t>
            </a:r>
            <a:endParaRPr lang="en-US" sz="450" dirty="0"/>
          </a:p>
        </p:txBody>
      </p:sp>
      <p:sp>
        <p:nvSpPr>
          <p:cNvPr id="4" name="Shape 2"/>
          <p:cNvSpPr/>
          <p:nvPr/>
        </p:nvSpPr>
        <p:spPr>
          <a:xfrm>
            <a:off x="451470" y="706115"/>
            <a:ext cx="4089574" cy="414189"/>
          </a:xfrm>
          <a:prstGeom prst="roundRect">
            <a:avLst>
              <a:gd name="adj" fmla="val 21563"/>
            </a:avLst>
          </a:prstGeom>
          <a:solidFill>
            <a:srgbClr val="FC8337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13457" y="737071"/>
            <a:ext cx="3965600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Performance Analysis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13457" y="864915"/>
            <a:ext cx="3965600" cy="244599"/>
          </a:xfrm>
          <a:prstGeom prst="rect">
            <a:avLst/>
          </a:prstGeom>
          <a:noFill/>
          <a:ln/>
        </p:spPr>
        <p:txBody>
          <a:bodyPr wrap="square" lIns="0" tIns="24809" rIns="0" bIns="0" rtlCol="0" anchor="t">
            <a:normAutofit/>
          </a:bodyPr>
          <a:lstStyle/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IPL team performance across seasons</a:t>
            </a:r>
            <a:endParaRPr lang="en-US" sz="450" dirty="0"/>
          </a:p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individual player performance metrics</a:t>
            </a:r>
            <a:endParaRPr lang="en-US" sz="450" dirty="0"/>
          </a:p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season-wise performance variations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4652367" y="737071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Player &amp; Metric Tracking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652367" y="864915"/>
            <a:ext cx="4000277" cy="244599"/>
          </a:xfrm>
          <a:prstGeom prst="rect">
            <a:avLst/>
          </a:prstGeom>
          <a:noFill/>
          <a:ln/>
        </p:spPr>
        <p:txBody>
          <a:bodyPr wrap="square" lIns="0" tIns="24809" rIns="0" bIns="0" rtlCol="0" anchor="t">
            <a:normAutofit/>
          </a:bodyPr>
          <a:lstStyle/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top batsmen and bowlers by key statistics</a:t>
            </a:r>
            <a:endParaRPr lang="en-US" sz="450" dirty="0"/>
          </a:p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Orange Cap (leading run scorer) and Purple Cap (leading wicket taker) trends across seasons</a:t>
            </a:r>
            <a:endParaRPr lang="en-US" sz="450" dirty="0"/>
          </a:p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runs, wickets, fours, sixes, and match outcomes at granular level</a:t>
            </a:r>
            <a:endParaRPr lang="en-US" sz="4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80" y="1155129"/>
            <a:ext cx="7418040" cy="39290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90033" y="3963221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Define Metrics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759608" y="4257697"/>
            <a:ext cx="1964531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Specify KPIs tied to objectives.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72694" y="1706253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Collect &amp; Clean Data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42269" y="2000728"/>
            <a:ext cx="1964530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Aggregate sources and ensure quality.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44122" y="1706253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Build Models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44122" y="2000728"/>
            <a:ext cx="1964531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analytics and validation routines.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137006" y="3963348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Deliver Insights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37006" y="4257824"/>
            <a:ext cx="1964530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 findings and recommend actions.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413"/>
            <a:ext cx="8151763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Dataset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53467"/>
            <a:ext cx="8151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analysis is built on four interconnected datasets covering every dimension of IPL competition — from individual deliveries to aggregate team records. All data was cleaned and transformed prior to modeling to ensure analytical accuracy.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96119" y="1410965"/>
            <a:ext cx="4024908" cy="1262509"/>
          </a:xfrm>
          <a:prstGeom prst="roundRect">
            <a:avLst>
              <a:gd name="adj" fmla="val 8014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8009" y="1532855"/>
            <a:ext cx="337245" cy="337245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0729" y="1625575"/>
            <a:ext cx="151730" cy="1517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8009" y="1971973"/>
            <a:ext cx="3781127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Ball-by-Ball 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8009" y="2208684"/>
            <a:ext cx="3781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Granular match-level records capturing every delivery, run type, dismissal, and fielding event across all seasons.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622899" y="1410965"/>
            <a:ext cx="4024982" cy="1262509"/>
          </a:xfrm>
          <a:prstGeom prst="roundRect">
            <a:avLst>
              <a:gd name="adj" fmla="val 8014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44789" y="1532855"/>
            <a:ext cx="337245" cy="337245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7509" y="1625575"/>
            <a:ext cx="151730" cy="1517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44789" y="1971973"/>
            <a:ext cx="3781202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IPL Match Data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744789" y="2208684"/>
            <a:ext cx="37812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 results, venues, toss decisions, winning margins, and outcome metadata for every fixture.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96119" y="2775347"/>
            <a:ext cx="4024908" cy="1262509"/>
          </a:xfrm>
          <a:prstGeom prst="roundRect">
            <a:avLst>
              <a:gd name="adj" fmla="val 8014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8009" y="2897237"/>
            <a:ext cx="337245" cy="337245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729" y="2989957"/>
            <a:ext cx="151730" cy="1517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8009" y="3336354"/>
            <a:ext cx="3781127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Player Data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8009" y="3573066"/>
            <a:ext cx="3781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Individual player statistics, batting/bowling profiles, team affiliations, and career milestones.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622899" y="2775347"/>
            <a:ext cx="4024982" cy="1262509"/>
          </a:xfrm>
          <a:prstGeom prst="roundRect">
            <a:avLst>
              <a:gd name="adj" fmla="val 8014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44789" y="2897237"/>
            <a:ext cx="337245" cy="337245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37509" y="2989957"/>
            <a:ext cx="151730" cy="1517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44789" y="3336354"/>
            <a:ext cx="3781202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Team Data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744789" y="3573066"/>
            <a:ext cx="37812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Team-level aggregated metrics including wins, losses, net run rates, and season standings.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96119" y="4152454"/>
            <a:ext cx="8151763" cy="592559"/>
          </a:xfrm>
          <a:prstGeom prst="roundRect">
            <a:avLst>
              <a:gd name="adj" fmla="val 17074"/>
            </a:avLst>
          </a:prstGeom>
          <a:solidFill>
            <a:srgbClr val="7E320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484" y="4298305"/>
            <a:ext cx="140494" cy="11236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61343" y="4282380"/>
            <a:ext cx="767417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four datasets were cross-validated and integrated via a structured relational schema to eliminate redundancy and ensure consistency across analytical views.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540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Preparation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9097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rigorous six-stage data preparation pipeline was executed using Power Query — transforming raw, heterogeneous source files into a clean, analysis-ready relational model. This ETL layer is the analytical foundation of the entire dashboard.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127424"/>
            <a:ext cx="279053" cy="279053"/>
          </a:xfrm>
          <a:prstGeom prst="roundRect">
            <a:avLst>
              <a:gd name="adj" fmla="val 40007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2627" y="2150678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9145" y="2170063"/>
            <a:ext cx="35953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9145" y="2438326"/>
            <a:ext cx="359531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Identified and removed duplicate records, corrected structural inconsistencies, and standardized player and team name formats across all source tables.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49465" y="2127424"/>
            <a:ext cx="279053" cy="279053"/>
          </a:xfrm>
          <a:prstGeom prst="roundRect">
            <a:avLst>
              <a:gd name="adj" fmla="val 40007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5974" y="2150678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52492" y="2170063"/>
            <a:ext cx="35953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Missing Value Handling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52492" y="2438326"/>
            <a:ext cx="35953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context-sensitive imputation or exclusion strategies for incomplete records to preserve dataset integrity without introducing analytical bias.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281735"/>
            <a:ext cx="279053" cy="279053"/>
          </a:xfrm>
          <a:prstGeom prst="roundRect">
            <a:avLst>
              <a:gd name="adj" fmla="val 40007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2627" y="3304989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99145" y="3324374"/>
            <a:ext cx="35953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Type Correction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9145" y="3592637"/>
            <a:ext cx="359531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Enforced consistent column data types — numeric, date, and categorical — across all imported tables to prevent calculation errors in DAX.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49465" y="3281735"/>
            <a:ext cx="279053" cy="279053"/>
          </a:xfrm>
          <a:prstGeom prst="roundRect">
            <a:avLst>
              <a:gd name="adj" fmla="val 40007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5974" y="3304989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052492" y="3324374"/>
            <a:ext cx="35953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Power Query Transformation &amp; Modeling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52492" y="3592637"/>
            <a:ext cx="35953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ETL pipelines for data integration; established primary and foreign key relationships to form a structured, queryable relational schema.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6209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DAX Measures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08087"/>
            <a:ext cx="815176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 categories of custom DAX measures power every KPI, chart, and filter in the dashboard. Each measure was authored to be performant, reusable, and semantically precise — following best practices for calculated column vs. measure architecture.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530995"/>
            <a:ext cx="4015755" cy="995288"/>
          </a:xfrm>
          <a:prstGeom prst="roundRect">
            <a:avLst>
              <a:gd name="adj" fmla="val 11042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2445" y="1667321"/>
            <a:ext cx="3743102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Total Runs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2445" y="1930152"/>
            <a:ext cx="3743102" cy="45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SUM(runs_scored)</a:t>
            </a:r>
            <a:endParaRPr lang="en-US" sz="9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Aggregate of all runs scored across selected filters.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2052" y="1530995"/>
            <a:ext cx="4015829" cy="995288"/>
          </a:xfrm>
          <a:prstGeom prst="roundRect">
            <a:avLst>
              <a:gd name="adj" fmla="val 11042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8379" y="1667321"/>
            <a:ext cx="374317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Total Wickets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8379" y="1930152"/>
            <a:ext cx="3743176" cy="45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COUNTROWS(dismissals)</a:t>
            </a:r>
            <a:endParaRPr lang="en-US" sz="9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Count of all valid dismissal events by bowler or team.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2646462"/>
            <a:ext cx="4015755" cy="995288"/>
          </a:xfrm>
          <a:prstGeom prst="roundRect">
            <a:avLst>
              <a:gd name="adj" fmla="val 11042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445" y="2782788"/>
            <a:ext cx="3743102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Total Matches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2445" y="3045619"/>
            <a:ext cx="3743102" cy="45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DISTINCTCOUNT(match_id)</a:t>
            </a:r>
            <a:endParaRPr lang="en-US" sz="9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Unique match count supporting season and team slicing.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2052" y="2646462"/>
            <a:ext cx="4015829" cy="995288"/>
          </a:xfrm>
          <a:prstGeom prst="roundRect">
            <a:avLst>
              <a:gd name="adj" fmla="val 11042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8379" y="2782788"/>
            <a:ext cx="374317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Win / Loss Ratio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8379" y="3045619"/>
            <a:ext cx="3743176" cy="45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DIVIDE(Matches Won, Total Matches)</a:t>
            </a:r>
            <a:endParaRPr lang="en-US" sz="9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Calculated win rate for team performance benchmarking.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3761929"/>
            <a:ext cx="4015755" cy="995288"/>
          </a:xfrm>
          <a:prstGeom prst="roundRect">
            <a:avLst>
              <a:gd name="adj" fmla="val 11042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445" y="3898255"/>
            <a:ext cx="3743102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Total Fours &amp; Sixes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5" y="4161086"/>
            <a:ext cx="3743102" cy="45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CALCULATE(SUM, boundary_type)</a:t>
            </a:r>
            <a:endParaRPr lang="en-US" sz="9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Boundary hit aggregations separated by scoring type.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32052" y="3761929"/>
            <a:ext cx="4015829" cy="995288"/>
          </a:xfrm>
          <a:prstGeom prst="roundRect">
            <a:avLst>
              <a:gd name="adj" fmla="val 11042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8379" y="3898255"/>
            <a:ext cx="374317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Centuries &amp; Half-Centuries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68379" y="4161086"/>
            <a:ext cx="3743176" cy="45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COUNTROWS(FILTER(...))</a:t>
            </a:r>
            <a:endParaRPr lang="en-US" sz="9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Milestone achievement counts per batsman per season.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5688"/>
            <a:ext cx="8151763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Dashboard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40743"/>
            <a:ext cx="8151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Power BI dashboard delivers a multi-page interactive experience covering team performance, player rankings, and cap leaderboards — all controlled via season-based slicers for temporal drill-down.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98240"/>
            <a:ext cx="4143524" cy="232238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831" y="3820939"/>
            <a:ext cx="2646611" cy="95108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7059" y="3835226"/>
            <a:ext cx="2491383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Interactive Season Filters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37059" y="4071938"/>
            <a:ext cx="249138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Season-based slicers enable temporal drill-down, allowing users to isolate any IPL edition for focused comparison.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1477" y="3820939"/>
            <a:ext cx="2646685" cy="95108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96704" y="3835226"/>
            <a:ext cx="2491457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KPI Cards &amp; Team Metrics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3396704" y="4071938"/>
            <a:ext cx="249145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At-a-glance key performance indicators surface total runs, wickets, matches, and win rates; comparative charts benchmark franchises side-by-side.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1196" y="3820939"/>
            <a:ext cx="2646611" cy="95108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56424" y="3835226"/>
            <a:ext cx="2491383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Player Rankings &amp; Cap Visualizations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6156424" y="4071938"/>
            <a:ext cx="249138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Ranked tables and trend visuals highlight Orange Cap and Purple Cap leaders across seasons, with individual player drill-through statistics.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295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Insights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68524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dashboard surfaces seven categories of actionable intelligence — translating raw match data into clear narratives about batting excellence, bowling dominance, and franchise consistency.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04975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170063"/>
            <a:ext cx="26138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Top Teams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438326"/>
            <a:ext cx="261386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high-performing franchises identified across multiple seasons through win-rate and net run-rate analysis.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991" y="1704975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4991" y="2170063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Leading Run Scorers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64991" y="2438326"/>
            <a:ext cx="26139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Dominant batsmen ranked by career IPL runs, highlighting players who shaped the Orange Cap narrative season after season.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3939" y="1704975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3939" y="2170063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Leading Wicket Takers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33939" y="2438326"/>
            <a:ext cx="26139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effective bowlers surfaced by total wickets and economy, revealing Purple Cap contenders across all editions.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281735"/>
            <a:ext cx="310083" cy="3100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746822"/>
            <a:ext cx="26138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Season-wise Variations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96119" y="4015085"/>
            <a:ext cx="261386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fluctuations and growth trends across seasons expose how team strategies and player form evolved over time.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4991" y="3281735"/>
            <a:ext cx="310083" cy="31008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64991" y="3746822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Batting &amp; Bowling Trends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3264991" y="4015085"/>
            <a:ext cx="26139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insights into boundary frequency, strike rates, and economy rates reveal tactical patterns that define match outcomes.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8991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Analytics &amp; Business Value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96119" y="908075"/>
            <a:ext cx="815176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Beyond technical execution, the dashboard delivers measurable analytical value — demonstrating how structured BI solutions translate raw sports data into strategic intelligence for stakeholders.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7984" y="1340495"/>
            <a:ext cx="4099768" cy="1273076"/>
          </a:xfrm>
          <a:prstGeom prst="roundRect">
            <a:avLst>
              <a:gd name="adj" fmla="val 12277"/>
            </a:avLst>
          </a:prstGeom>
          <a:solidFill>
            <a:srgbClr val="FC8337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26479" y="1435447"/>
            <a:ext cx="388277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Analytical Capabilities Delivered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26479" y="1699915"/>
            <a:ext cx="3882777" cy="554831"/>
          </a:xfrm>
          <a:prstGeom prst="rect">
            <a:avLst/>
          </a:prstGeom>
          <a:noFill/>
          <a:ln/>
        </p:spPr>
        <p:txBody>
          <a:bodyPr wrap="square" lIns="0" tIns="43416" rIns="0" bIns="0" rtlCol="0" anchor="t">
            <a:normAutofit/>
          </a:bodyPr>
          <a:lstStyle/>
          <a:p>
            <a:pPr algn="l" marL="172720" indent="-17272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 understanding of IPL performance metrics at a glance</a:t>
            </a:r>
            <a:endParaRPr lang="en-US" sz="850" dirty="0"/>
          </a:p>
          <a:p>
            <a:pPr algn="l" marL="172720" indent="-17272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and player comparison for strategic analysis</a:t>
            </a:r>
            <a:endParaRPr lang="en-US" sz="850" dirty="0"/>
          </a:p>
          <a:p>
            <a:pPr algn="l" marL="172720" indent="-17272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trend identification for predictive insights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09145" y="1435447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Stakeholder Value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09145" y="1699915"/>
            <a:ext cx="3943499" cy="880467"/>
          </a:xfrm>
          <a:prstGeom prst="rect">
            <a:avLst/>
          </a:prstGeom>
          <a:noFill/>
          <a:ln/>
        </p:spPr>
        <p:txBody>
          <a:bodyPr wrap="square" lIns="0" tIns="43416" rIns="0" bIns="0" rtlCol="0" anchor="t">
            <a:normAutofit/>
          </a:bodyPr>
          <a:lstStyle/>
          <a:p>
            <a:pPr algn="l" marL="172720" indent="-17272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data-driven decision-making for franchise management, analysts, and scouts</a:t>
            </a:r>
            <a:endParaRPr lang="en-US" sz="850" dirty="0"/>
          </a:p>
          <a:p>
            <a:pPr algn="l" marL="172720" indent="-17272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Demonstrates real-world application of analytics in professional sports contexts</a:t>
            </a:r>
            <a:endParaRPr lang="en-US" sz="850" dirty="0"/>
          </a:p>
          <a:p>
            <a:pPr algn="l" marL="172720" indent="-17272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 architecture adaptable to other cricket leagues or sports datasets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6119" y="2774603"/>
            <a:ext cx="4016499" cy="3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6119" y="3258220"/>
            <a:ext cx="4016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Datasets Integrated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6119" y="3484662"/>
            <a:ext cx="401649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Ball, match, player &amp; team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31308" y="2774603"/>
            <a:ext cx="4016573" cy="3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31308" y="3258220"/>
            <a:ext cx="401657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DAX Measure Categories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31308" y="3484662"/>
            <a:ext cx="401657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Runs, wickets, matches, ratios, boundaries, milestones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6119" y="3891632"/>
            <a:ext cx="4016499" cy="3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6119" y="4375249"/>
            <a:ext cx="4016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Insight Domains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6119" y="4601691"/>
            <a:ext cx="401649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Teams, batsmen, bowlers, caps, trends, seasons, tactics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31308" y="3891632"/>
            <a:ext cx="4016573" cy="3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31308" y="4375249"/>
            <a:ext cx="401657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Unified Dashboard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31308" y="4601691"/>
            <a:ext cx="401657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interactive Power BI solution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151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97087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represents a complete, production-quality BI solution — demonstrating the full data analytics lifecycle from raw data through interactive insight delivery. Every layer of the pipeline reflects industry-standard practices applicable to analyst and BI developer roles.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633538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1829991"/>
            <a:ext cx="4013895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920553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Power BI Dashboard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188815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Multi-page interactive report with slicers, KPI cards, and drill-through navigation.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33987" y="1633538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1829991"/>
            <a:ext cx="4013895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0" name="Text 8"/>
          <p:cNvSpPr/>
          <p:nvPr/>
        </p:nvSpPr>
        <p:spPr>
          <a:xfrm>
            <a:off x="4633987" y="1920553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DAX Formula Creation &amp; Optimization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3987" y="2188815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measures for aggregations, ratios, and conditional milestone counts.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280273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2999184"/>
            <a:ext cx="4013895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089746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Power Query ETL &amp; Data Modeling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358009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transformation pipelines and relational schema with primary/foreign key integrity.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3987" y="280273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2999184"/>
            <a:ext cx="4013895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8" name="Text 16"/>
          <p:cNvSpPr/>
          <p:nvPr/>
        </p:nvSpPr>
        <p:spPr>
          <a:xfrm>
            <a:off x="4633987" y="3089746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Cleaning, Validation &amp; Visualization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3987" y="3358009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data quality assurance paired with purposeful, insight-driven visual storytelling.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6119" y="3987478"/>
            <a:ext cx="8151763" cy="694432"/>
          </a:xfrm>
          <a:prstGeom prst="roundRect">
            <a:avLst>
              <a:gd name="adj" fmla="val 16077"/>
            </a:avLst>
          </a:prstGeom>
          <a:solidFill>
            <a:srgbClr val="7E3202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4167262"/>
            <a:ext cx="155004" cy="12397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99071" y="4142408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Portfolio Takeaway: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This project demonstrates business intelligence and analytics expertise directly applicable to data analyst, BI developer, and sports analytics roles across industries.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4590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Sources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2381473"/>
            <a:ext cx="8151763" cy="1016124"/>
          </a:xfrm>
          <a:prstGeom prst="roundRect">
            <a:avLst>
              <a:gd name="adj" fmla="val 10987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380" y="2519735"/>
            <a:ext cx="787524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Dashboard Screenshot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380" y="2787997"/>
            <a:ext cx="7875240" cy="471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50" b="1" u="sng" dirty="0">
                <a:solidFill>
                  <a:srgbClr val="FC833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IPL_Aanalysis_Dashborad.png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Original Power BI dashboard deliverable — authored by Javed Ali as part of this portfolio project.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C833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2026-08-16T09:13:26Z</dcterms:created>
  <dcterms:modified xsi:type="dcterms:W3CDTF">2026-08-16T09:13:26Z</dcterms:modified>
</cp:coreProperties>
</file>